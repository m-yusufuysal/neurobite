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Satış Fiyatı (AED)</c:v>
                </c:pt>
              </c:strCache>
            </c:strRef>
          </c:tx>
          <c:spPr>
            <a:solidFill>
              <a:srgbClr val="0B2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34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Pilot</c:v>
                  </c:pt>
                  <c:pt idx="1">
                    <c:v>Büyüme</c:v>
                  </c:pt>
                  <c:pt idx="2">
                    <c:v>Kurumsal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19.99</c:v>
                </c:pt>
                <c:pt idx="1">
                  <c:v>18.5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Birim Maliyet (AED)</c:v>
                </c:pt>
              </c:strCache>
            </c:strRef>
          </c:tx>
          <c:spPr>
            <a:solidFill>
              <a:srgbClr val="E8A9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34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Pilot</c:v>
                  </c:pt>
                  <c:pt idx="1">
                    <c:v>Büyüme</c:v>
                  </c:pt>
                  <c:pt idx="2">
                    <c:v>Kurumsal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16.9</c:v>
                </c:pt>
                <c:pt idx="1">
                  <c:v>11.2</c:v>
                </c:pt>
                <c:pt idx="2">
                  <c:v>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A34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343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AED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7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PERFORMANS MOLASI · DUBAI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NeuroBite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Ekibinizin en verimsiz saatini, en değerli molasına çeviriyoruz.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Öğleden Sonra, Ekibiniz Yarı Kapasitede.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Şekerli atıştırmalıklar kan şekerini hızla yükseltip hızla düşürür; odak da onunla birlikte düşer. Bu, hiçbir P&amp;L raporunda görünmeyen ama her gün yaşanan bir kayıp.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5074920" cy="2011680"/>
          </a:xfrm>
          <a:prstGeom prst="roundRect">
            <a:avLst>
              <a:gd name="adj" fmla="val 4091"/>
            </a:avLst>
          </a:prstGeom>
          <a:solidFill>
            <a:srgbClr val="0B2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0233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%40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9377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çalışanı işini 'çok stresli' buluyor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379476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80760" y="40233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30-45 dk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8920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bir ara öğünün gerçek zihinsel netlik etkisini gösterme süresi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BEDELI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Görünmeyen Kayıp, Gerçek Bir Maliyet.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0F35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Düşen Odak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3375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şekeri dalgalanması → hata payı ve yavaşlayan iş çıktısı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0F35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Artan Devamsızlık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3375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Kronik stres ve yorgunluk, hastalık izinlerini artırıyor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246888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0F35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Zayıflayan Bağlılık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3375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Somut, günlük hissedilen bir yan hak olmadan yetenek tutunmuyor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verisi: iyi tasarlanmış bir kurumsal wellness programı, harcanan her 1 AED'ye karşılık ortalama 3,27 AED getiri sağlıyor (absenteeism + verim üzerinden ölçülmüş).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Bilim Temelli Bir Mola,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Doğrudan Masaya.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NeuroBite; protein, lif ve sağlıklı yağı dengeleyen, kan şekerini stabilize eden, hazır ve onaylı ürünlerden özenle seçilmiş bir performans kutusudur. Biz üretmiyoruz — doğru ürünleri seçip, denetleyip, kapınıza kadar getiriyoruz.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4059936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343400"/>
            <a:ext cx="4059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+ Lif Dengesi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65776" y="4343400"/>
            <a:ext cx="3223913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65776" y="4343400"/>
            <a:ext cx="32239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Şekeri Dostu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72569" y="4343400"/>
            <a:ext cx="4059936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72569" y="4343400"/>
            <a:ext cx="4059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Onaylı Marka Ürünleri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715385" y="4343400"/>
            <a:ext cx="5063163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715385" y="4343400"/>
            <a:ext cx="50631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Küratör Modeli — Üretim Yok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Kutuda Ne Var, Neden Var?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ürün, kan şekerini dengeleyen 'protein + lif + sağlıklı yağ' ilkesiyle seçildi — abur cubur değil, işlevsel bir set.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4F9F8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3774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🥜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Çiğ Badem + Ceviz Karışımı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Protein, lif, magnezyum ve omega-3 — kan şekerini dengeleyen temel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370832" y="214884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4F9F8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3774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🌰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Medjool Hurma (1 adet)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Lifle tamponlanmış doğal şeker — ani düşüş yaratmaz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918704" y="214884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4F9F8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3774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4730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🫘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Kavrulmuş Nohut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147304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protein + çıtırlık — tokluk süresini uzatır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22960" y="4187952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4F9F8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441655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02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Magnezyum Destek Çubuğu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468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 ve kas toparlanmasında en çok belgelenmiş minerallerden biri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370832" y="4187952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4F9F8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441655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99432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102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Elektrolit / Mineralli Su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5468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Yorgunluğun asıl nedeni çoğu zaman susuzluktur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918704" y="4187952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4F9F8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47304" y="441655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47304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8147304" y="5102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Esansiyel Yağ Roll-on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147304" y="5468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Opsiyonel duyusal mola — çalışanların en çok sevdiği küçük dokunuş</a:t>
            </a:r>
            <a:endParaRPr lang="en-US" sz="98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 ÇALIŞIR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Basit Adım.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91640" y="23774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916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14600" y="2743200"/>
            <a:ext cx="1920240" cy="0"/>
          </a:xfrm>
          <a:prstGeom prst="line">
            <a:avLst/>
          </a:prstGeom>
          <a:noFill/>
          <a:ln w="19050">
            <a:solidFill>
              <a:srgbClr val="3A5A6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2296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Onaylı, hazır ve markalı ürünler arasından bilimsel kritere göre seçim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166360" y="2743200"/>
            <a:ext cx="1920240" cy="0"/>
          </a:xfrm>
          <a:prstGeom prst="line">
            <a:avLst/>
          </a:prstGeom>
          <a:noFill/>
          <a:ln w="19050">
            <a:solidFill>
              <a:srgbClr val="3A5A64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47472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Denetle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749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ürün, kalite ve menşei kontrolünden geçirilir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95160" y="23774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951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818120" y="2743200"/>
            <a:ext cx="1920240" cy="0"/>
          </a:xfrm>
          <a:prstGeom prst="line">
            <a:avLst/>
          </a:prstGeom>
          <a:noFill/>
          <a:ln w="19050">
            <a:solidFill>
              <a:srgbClr val="3A5A6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12648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Et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749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Ürünler imzalı tepside bir araya getirilir, QR ile etiketlenir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46920" y="23774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469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Teslim Et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3749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Haftada 2x, sizin takviminize göre planlanan teslimat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Teslimat günleri her şirketin ofis düzenine göre esnek olarak planlanır — sabit bir gün dayatılmaz.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Üretici Değil, Küratörüz — Ve Bu Bir Avantaj.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mutfağımızda üretim yapmıyoruz. Zaten onaylı ve markalı ürünleri seçiyor, denetliyor ve bir araya getiriyoruz. Bu, ruhsatlandırmayı basitleştirir ve güveni tedarikçi şeffaflığına dayandırır.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0B2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9900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Gıda Maddeleri Ticaret Ruhsatı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310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 — üretim değil, ticaret ve paketleme kapsamında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217920" y="3017520"/>
            <a:ext cx="457200" cy="457200"/>
          </a:xfrm>
          <a:prstGeom prst="ellipse">
            <a:avLst/>
          </a:prstGeom>
          <a:solidFill>
            <a:srgbClr val="0B2A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9900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 Municipality Ticaret İzni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3310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 ve montaj için, tam üretim mutfağı gerekmez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822960" y="4151376"/>
            <a:ext cx="457200" cy="457200"/>
          </a:xfrm>
          <a:prstGeom prst="ellipse">
            <a:avLst/>
          </a:prstGeom>
          <a:solidFill>
            <a:srgbClr val="0B2A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Tedarikçi Denetimi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4439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onaylı/kayıtlı üretici ve distribütörlerden alım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217920" y="4151376"/>
            <a:ext cx="457200" cy="457200"/>
          </a:xfrm>
          <a:prstGeom prst="ellipse">
            <a:avLst/>
          </a:prstGeom>
          <a:solidFill>
            <a:srgbClr val="0B2A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Marka Şeffaflığı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44439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ürünün kaynağı, pakette ve QR kodda görünür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22960" y="5285232"/>
            <a:ext cx="457200" cy="457200"/>
          </a:xfrm>
          <a:prstGeom prst="ellipse">
            <a:avLst/>
          </a:prstGeom>
          <a:solidFill>
            <a:srgbClr val="0B2A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257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Sağlık Kartlı Montaj Personeli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577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Gıdayla temas eden herkeste zorunlu sertifikasyon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217920" y="5285232"/>
            <a:ext cx="457200" cy="457200"/>
          </a:xfrm>
          <a:prstGeom prst="ellipse">
            <a:avLst/>
          </a:prstGeom>
          <a:solidFill>
            <a:srgbClr val="0B2A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5257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Sigorta &amp; SLA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5577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Tedarik/teslimat sorunları için yazılı güvence</a:t>
            </a:r>
            <a:endParaRPr lang="en-US" sz="97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MODELI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Pilottan Ölçeğe.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83280" cy="3291840"/>
          </a:xfrm>
          <a:prstGeom prst="roundRect">
            <a:avLst>
              <a:gd name="adj" fmla="val 2500"/>
            </a:avLst>
          </a:prstGeom>
          <a:solidFill>
            <a:srgbClr val="0F3548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PİLOT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19.99 AED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51560" y="3246120"/>
            <a:ext cx="292608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çalışan · 4 hafta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7.996 AED toplam yatırım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383280" cy="3566160"/>
          </a:xfrm>
          <a:prstGeom prst="roundRect">
            <a:avLst>
              <a:gd name="adj" fmla="val 2432"/>
            </a:avLst>
          </a:prstGeom>
          <a:solidFill>
            <a:srgbClr val="02C39A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18.50 AED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617720" y="3108960"/>
            <a:ext cx="2926080" cy="0"/>
          </a:xfrm>
          <a:prstGeom prst="line">
            <a:avLst/>
          </a:prstGeom>
          <a:noFill/>
          <a:ln w="9525">
            <a:solidFill>
              <a:srgbClr val="1E4E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paket / ay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%39 brüt marj hedefi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383280" cy="3291840"/>
          </a:xfrm>
          <a:prstGeom prst="roundRect">
            <a:avLst>
              <a:gd name="adj" fmla="val 2500"/>
            </a:avLst>
          </a:prstGeom>
          <a:solidFill>
            <a:srgbClr val="0F3548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18.00 AED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8183880" y="3246120"/>
            <a:ext cx="292608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 paket / ay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%46 brüt marj hedefi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*Fiyatlar örnek ölçekleme modelidir; gerçek marjlar tedarikçi sözleşmeleriyle netleşir.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EKONOMISI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Ölçek Büyüdükçe Marj Genişliyor.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00200"/>
          <a:ext cx="5760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00200"/>
            <a:ext cx="4434840" cy="3017520"/>
          </a:xfrm>
          <a:prstGeom prst="roundRect">
            <a:avLst>
              <a:gd name="adj" fmla="val 2424"/>
            </a:avLst>
          </a:prstGeom>
          <a:solidFill>
            <a:srgbClr val="EFF6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Brüt Marj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%15,5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761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2761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%39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33284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33284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%46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brüt kâr: Büyüme'de ~73.000 AED, Kurumsal'da ~820.000 AED (tahmini)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 iyileşmesi; toplu tedarik anlaşmaları, rota yoğunluğu ve merkezi montajın ölçek ekonomisinden gelir — üretim yatırımı gerektirmez.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ETKI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Bu, Bir Yan Hak Değil — Bir Verimlilik Yatırımı.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0F35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5176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%67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832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Öğleden sonra enerji düşüşünde azalma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11296" y="246888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0F35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1296" y="265176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%34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33832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memnuniyeti artışı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246888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0F35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265176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+45 dk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33832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Uzayan odaklanma süresi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87968" y="246888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0F35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87968" y="265176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025128" y="33832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 izninde azalma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rakamlar pilot programda ölçülecek hedef metriklerdir; sektör ortalaması olan 3,27x wellness ROI'si referans alınmıştır. Kesinleşmiş sonuç değildir.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Güveni İnşa Eden Ekip.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48716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185623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Kurucu / Genel Müdür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35000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geliştirme, kurumsal ortaklıklar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11296" y="1691640"/>
            <a:ext cx="248716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85623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Tedarik &amp; Satın Alma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235000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araştırması, tedarikçi sözleşmeleri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248716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85623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Lisanslı Diyetisyen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35000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seçiminde bilimsel onay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87968" y="1691640"/>
            <a:ext cx="248716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85623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Kalite &amp; Uyumluluk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35000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 ürün kontrolü, ruhsat takibi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474720"/>
            <a:ext cx="248716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36393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Operasyon &amp; Lojistik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413308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Soğuk zincir, rota, montaj takvimi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11296" y="3474720"/>
            <a:ext cx="248716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6393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Kurumsal Satış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75888" y="413308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 ilişkileri, pilot-to-scale dönüşüm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99632" y="3474720"/>
            <a:ext cx="248716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64224" y="36393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Montaj &amp; Teslimat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413308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kartlı personel, sürücüler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87968" y="3474720"/>
            <a:ext cx="248716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52560" y="36393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Danışma Kurulu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413308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 lisanslı hekim — üçüncü taraf itibar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0'dan Ölçeğe, 12 Ayda.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70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Kuruluş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Ticaret ruhsatı, tedarikçi anlaşmaları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07208" y="2258568"/>
            <a:ext cx="91440" cy="0"/>
          </a:xfrm>
          <a:prstGeom prst="line">
            <a:avLst/>
          </a:prstGeom>
          <a:noFill/>
          <a:ln w="19050">
            <a:solidFill>
              <a:srgbClr val="C6D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16936" y="201168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16936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2-3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62656" y="2670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Pilotlar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62656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şirkette ücretli pilot, veri toplama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01184" y="2258568"/>
            <a:ext cx="91440" cy="0"/>
          </a:xfrm>
          <a:prstGeom prst="line">
            <a:avLst/>
          </a:prstGeom>
          <a:noFill/>
          <a:ln w="19050">
            <a:solidFill>
              <a:srgbClr val="C6D8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10912" y="201168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10912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4-6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56632" y="2670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Doğrulama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56632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vakalar, satış materyali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95160" y="2258568"/>
            <a:ext cx="91440" cy="0"/>
          </a:xfrm>
          <a:prstGeom prst="line">
            <a:avLst/>
          </a:prstGeom>
          <a:noFill/>
          <a:ln w="19050">
            <a:solidFill>
              <a:srgbClr val="C6D8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4888" y="201168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04888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7-9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2670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Büyüme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sözleşmeler, 10K paket/ay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89136" y="2258568"/>
            <a:ext cx="91440" cy="0"/>
          </a:xfrm>
          <a:prstGeom prst="line">
            <a:avLst/>
          </a:prstGeom>
          <a:noFill/>
          <a:ln w="19050">
            <a:solidFill>
              <a:srgbClr val="C6D8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98864" y="201168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98864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10-12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2670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Ölçek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segment, 100K paket/ay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Ekibinize Doğru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Yatırımı Yapın.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haftalık pilot programla, risk almadan, veriyle karar verin.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sipariş: 50 paket  ·  Kurulum: 1 hafta  ·  Pilot: 4 hafta  ·  Teslimat: Haftada 2x, size uygun günlerde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2026-09-02T07:15:20Z</dcterms:created>
  <dcterms:modified xsi:type="dcterms:W3CDTF">2026-09-02T07:15:20Z</dcterms:modified>
</cp:coreProperties>
</file>